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7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Powder Inspection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Quality Control &amp; Traceability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December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77EEA"/>
                </a:solidFill>
              </a:defRPr>
            </a:pPr>
            <a:r>
              <a:t>System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25400">
            <a:solidFill>
              <a:srgbClr val="67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677EEA"/>
                </a:solidFill>
              </a:defRPr>
            </a:pPr>
            <a:r>
              <a:t>Purpose</a:t>
            </a:r>
          </a:p>
          <a:p>
            <a:pPr>
              <a:spcAft>
                <a:spcPts val="800"/>
              </a:spcAft>
              <a:defRPr sz="1800"/>
            </a:pPr>
            <a:r>
              <a:t>Comprehensive quality control system for powder inspection and blending operations</a:t>
            </a:r>
          </a:p>
          <a:p>
            <a:pPr>
              <a:spcAft>
                <a:spcPts val="800"/>
              </a:spcAft>
              <a:defRPr sz="1800"/>
            </a:pPr>
            <a:r>
              <a:t>Complete traceability from raw materials to finished products</a:t>
            </a:r>
          </a:p>
          <a:p>
            <a:pPr>
              <a:spcAft>
                <a:spcPts val="800"/>
              </a:spcAft>
              <a:defRPr sz="1800"/>
            </a:pPr>
            <a:r>
              <a:t>Automated LOT tracking using barcode/QR code technology</a:t>
            </a:r>
          </a:p>
          <a:p>
            <a:pPr>
              <a:spcBef>
                <a:spcPts val="2400"/>
              </a:spcBef>
              <a:spcAft>
                <a:spcPts val="1200"/>
              </a:spcAft>
              <a:defRPr sz="2400" b="1">
                <a:solidFill>
                  <a:srgbClr val="677EEA"/>
                </a:solidFill>
              </a:defRPr>
            </a:pPr>
            <a:r>
              <a:t>Key Features</a:t>
            </a:r>
          </a:p>
          <a:p>
            <a:pPr>
              <a:spcAft>
                <a:spcPts val="800"/>
              </a:spcAft>
              <a:defRPr sz="1800"/>
            </a:pPr>
            <a:r>
              <a:t>Web-based application (accessible from any PC)</a:t>
            </a:r>
          </a:p>
          <a:p>
            <a:pPr>
              <a:spcAft>
                <a:spcPts val="800"/>
              </a:spcAft>
              <a:defRPr sz="1800"/>
            </a:pPr>
            <a:r>
              <a:t>Real-time data synchronization</a:t>
            </a:r>
          </a:p>
          <a:p>
            <a:pPr>
              <a:spcAft>
                <a:spcPts val="800"/>
              </a:spcAft>
              <a:defRPr sz="1800"/>
            </a:pPr>
            <a:r>
              <a:t>Barcode label printing and scanning</a:t>
            </a:r>
          </a:p>
          <a:p>
            <a:pPr>
              <a:spcAft>
                <a:spcPts val="800"/>
              </a:spcAft>
              <a:defRPr sz="1800"/>
            </a:pPr>
            <a:r>
              <a:t>Quality inspection management</a:t>
            </a:r>
          </a:p>
          <a:p>
            <a:pPr>
              <a:spcAft>
                <a:spcPts val="800"/>
              </a:spcAft>
              <a:defRPr sz="1800"/>
            </a:pPr>
            <a:r>
              <a:t>Complete backward/forward traceability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77EEA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25400">
            <a:solidFill>
              <a:srgbClr val="67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Rectangle 4"/>
          <p:cNvSpPr/>
          <p:nvPr/>
        </p:nvSpPr>
        <p:spPr>
          <a:xfrm>
            <a:off x="3657600" y="2011680"/>
            <a:ext cx="1828800" cy="1097280"/>
          </a:xfrm>
          <a:prstGeom prst="rect">
            <a:avLst/>
          </a:prstGeom>
          <a:solidFill>
            <a:srgbClr val="E6EBFA"/>
          </a:solidFill>
          <a:ln w="25400">
            <a:solidFill>
              <a:srgbClr val="67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677EEA"/>
                </a:solidFill>
              </a:defRPr>
            </a:pPr>
            <a:r>
              <a:t>Server PC (A)</a:t>
            </a:r>
          </a:p>
          <a:p>
            <a:pPr algn="l">
              <a:spcBef>
                <a:spcPts val="800"/>
              </a:spcBef>
              <a:defRPr sz="1100"/>
            </a:pPr>
            <a:r>
              <a:t>• Flask Web Application</a:t>
            </a:r>
            <a:br/>
            <a:r>
              <a:t>• SQLite Database</a:t>
            </a:r>
            <a:br/>
            <a:r>
              <a:t>• Central Data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33832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Network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114800"/>
            <a:ext cx="1828800" cy="1097280"/>
          </a:xfrm>
          <a:prstGeom prst="rect">
            <a:avLst/>
          </a:prstGeom>
          <a:solidFill>
            <a:srgbClr val="E6EBFA"/>
          </a:solidFill>
          <a:ln w="25400">
            <a:solidFill>
              <a:srgbClr val="67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677EEA"/>
                </a:solidFill>
              </a:defRPr>
            </a:pPr>
            <a:r>
              <a:t>Client PC 1 (B)</a:t>
            </a:r>
          </a:p>
          <a:p>
            <a:pPr algn="l">
              <a:spcBef>
                <a:spcPts val="800"/>
              </a:spcBef>
              <a:defRPr sz="1100"/>
            </a:pPr>
            <a:r>
              <a:t>• Inspection Station</a:t>
            </a:r>
            <a:br/>
            <a:r>
              <a:t>• Barcode Scanner</a:t>
            </a:r>
            <a:br/>
            <a:r>
              <a:t>• Label Printer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4114800"/>
            <a:ext cx="1828800" cy="1097280"/>
          </a:xfrm>
          <a:prstGeom prst="rect">
            <a:avLst/>
          </a:prstGeom>
          <a:solidFill>
            <a:srgbClr val="E6EBFA"/>
          </a:solidFill>
          <a:ln w="25400">
            <a:solidFill>
              <a:srgbClr val="67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677EEA"/>
                </a:solidFill>
              </a:defRPr>
            </a:pPr>
            <a:r>
              <a:t>Client PC 2 (B)</a:t>
            </a:r>
          </a:p>
          <a:p>
            <a:pPr algn="l">
              <a:spcBef>
                <a:spcPts val="800"/>
              </a:spcBef>
              <a:defRPr sz="1100"/>
            </a:pPr>
            <a:r>
              <a:t>• Blending Station</a:t>
            </a:r>
            <a:br/>
            <a:r>
              <a:t>• Barcode Scanner</a:t>
            </a:r>
            <a:br/>
            <a:r>
              <a:t>• Label Printer</a:t>
            </a:r>
            <a:br/>
            <a:r>
              <a:t>• Touch Monitor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77EEA"/>
                </a:solidFill>
              </a:defRPr>
            </a:pPr>
            <a:r>
              <a:t>Main Functions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25400">
            <a:solidFill>
              <a:srgbClr val="67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77EEA"/>
                </a:solidFill>
              </a:defRPr>
            </a:pPr>
            <a:r>
              <a:t>1. Incoming Powder Inspection</a:t>
            </a:r>
          </a:p>
          <a:p>
            <a:pPr>
              <a:spcAft>
                <a:spcPts val="800"/>
              </a:spcAft>
              <a:defRPr sz="1400"/>
            </a:pPr>
            <a:r>
              <a:t>Quality testing of raw materials</a:t>
            </a:r>
          </a:p>
          <a:p>
            <a:pPr>
              <a:spcAft>
                <a:spcPts val="800"/>
              </a:spcAft>
              <a:defRPr sz="1400"/>
            </a:pPr>
            <a:r>
              <a:t>LOT number registration</a:t>
            </a:r>
          </a:p>
          <a:p>
            <a:pPr>
              <a:spcAft>
                <a:spcPts val="800"/>
              </a:spcAft>
              <a:defRPr sz="1400"/>
            </a:pPr>
            <a:r>
              <a:t>Multi-criteria inspection results</a:t>
            </a:r>
          </a:p>
          <a:p>
            <a:pPr>
              <a:spcBef>
                <a:spcPts val="1800"/>
              </a:spcBef>
              <a:defRPr sz="1800" b="1">
                <a:solidFill>
                  <a:srgbClr val="677EEA"/>
                </a:solidFill>
              </a:defRPr>
            </a:pPr>
            <a:r>
              <a:t>2. Blending Work Planning</a:t>
            </a:r>
          </a:p>
          <a:p>
            <a:pPr>
              <a:spcAft>
                <a:spcPts val="800"/>
              </a:spcAft>
              <a:defRPr sz="1400"/>
            </a:pPr>
            <a:r>
              <a:t>Recipe management</a:t>
            </a:r>
          </a:p>
          <a:p>
            <a:pPr>
              <a:spcAft>
                <a:spcPts val="800"/>
              </a:spcAft>
              <a:defRPr sz="1400"/>
            </a:pPr>
            <a:r>
              <a:t>Work order creation</a:t>
            </a:r>
          </a:p>
          <a:p>
            <a:pPr>
              <a:spcAft>
                <a:spcPts val="800"/>
              </a:spcAft>
              <a:defRPr sz="1400"/>
            </a:pPr>
            <a:r>
              <a:t>Production scheduling</a:t>
            </a:r>
          </a:p>
          <a:p>
            <a:pPr>
              <a:spcBef>
                <a:spcPts val="1800"/>
              </a:spcBef>
              <a:defRPr sz="1800" b="1">
                <a:solidFill>
                  <a:srgbClr val="677EEA"/>
                </a:solidFill>
              </a:defRPr>
            </a:pPr>
            <a:r>
              <a:t>3. Material Input Tracking</a:t>
            </a:r>
          </a:p>
          <a:p>
            <a:pPr>
              <a:spcAft>
                <a:spcPts val="800"/>
              </a:spcAft>
              <a:defRPr sz="1400"/>
            </a:pPr>
            <a:r>
              <a:t>Barcode scanning for LOT input</a:t>
            </a:r>
          </a:p>
          <a:p>
            <a:pPr>
              <a:spcAft>
                <a:spcPts val="800"/>
              </a:spcAft>
              <a:defRPr sz="1400"/>
            </a:pPr>
            <a:r>
              <a:t>Weight measurement recording</a:t>
            </a:r>
          </a:p>
          <a:p>
            <a:pPr>
              <a:spcAft>
                <a:spcPts val="800"/>
              </a:spcAft>
              <a:defRPr sz="1400"/>
            </a:pPr>
            <a:r>
              <a:t>Cross-contamination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6459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77EEA"/>
                </a:solidFill>
              </a:defRPr>
            </a:pPr>
            <a:r>
              <a:t>4. Quality Inspection Results</a:t>
            </a:r>
          </a:p>
          <a:p>
            <a:pPr>
              <a:spcAft>
                <a:spcPts val="800"/>
              </a:spcAft>
              <a:defRPr sz="1400"/>
            </a:pPr>
            <a:r>
              <a:t>Comprehensive test result storage</a:t>
            </a:r>
          </a:p>
          <a:p>
            <a:pPr>
              <a:spcAft>
                <a:spcPts val="800"/>
              </a:spcAft>
              <a:defRPr sz="1400"/>
            </a:pPr>
            <a:r>
              <a:t>Pass/Fail determination</a:t>
            </a:r>
          </a:p>
          <a:p>
            <a:pPr>
              <a:spcAft>
                <a:spcPts val="800"/>
              </a:spcAft>
              <a:defRPr sz="1400"/>
            </a:pPr>
            <a:r>
              <a:t>Historical data management</a:t>
            </a:r>
          </a:p>
          <a:p>
            <a:pPr>
              <a:spcBef>
                <a:spcPts val="1800"/>
              </a:spcBef>
              <a:defRPr sz="1800" b="1">
                <a:solidFill>
                  <a:srgbClr val="677EEA"/>
                </a:solidFill>
              </a:defRPr>
            </a:pPr>
            <a:r>
              <a:t>5. Complete Traceability</a:t>
            </a:r>
          </a:p>
          <a:p>
            <a:pPr>
              <a:spcAft>
                <a:spcPts val="800"/>
              </a:spcAft>
              <a:defRPr sz="1400"/>
            </a:pPr>
            <a:r>
              <a:t>Backward: Finished → Raw materials</a:t>
            </a:r>
          </a:p>
          <a:p>
            <a:pPr>
              <a:spcAft>
                <a:spcPts val="800"/>
              </a:spcAft>
              <a:defRPr sz="1400"/>
            </a:pPr>
            <a:r>
              <a:t>Forward: Raw material → Products</a:t>
            </a:r>
          </a:p>
          <a:p>
            <a:pPr>
              <a:spcAft>
                <a:spcPts val="800"/>
              </a:spcAft>
              <a:defRPr sz="1400"/>
            </a:pPr>
            <a:r>
              <a:t>Complete audit trail</a:t>
            </a:r>
          </a:p>
          <a:p>
            <a:pPr>
              <a:spcBef>
                <a:spcPts val="1800"/>
              </a:spcBef>
              <a:defRPr sz="1800" b="1">
                <a:solidFill>
                  <a:srgbClr val="677EEA"/>
                </a:solidFill>
              </a:defRPr>
            </a:pPr>
            <a:r>
              <a:t>6. Barcode/Label System</a:t>
            </a:r>
          </a:p>
          <a:p>
            <a:pPr>
              <a:spcAft>
                <a:spcPts val="800"/>
              </a:spcAft>
              <a:defRPr sz="1400"/>
            </a:pPr>
            <a:r>
              <a:t>Automatic label generation</a:t>
            </a:r>
          </a:p>
          <a:p>
            <a:pPr>
              <a:spcAft>
                <a:spcPts val="800"/>
              </a:spcAft>
              <a:defRPr sz="1400"/>
            </a:pPr>
            <a:r>
              <a:t>QR/Barcode printing</a:t>
            </a:r>
          </a:p>
          <a:p>
            <a:pPr>
              <a:spcAft>
                <a:spcPts val="800"/>
              </a:spcAft>
              <a:defRPr sz="1400"/>
            </a:pPr>
            <a:r>
              <a:t>Wireless scanner integration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77EEA"/>
                </a:solidFill>
              </a:defRPr>
            </a:pPr>
            <a:r>
              <a:t>User Interface - Menu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25400">
            <a:solidFill>
              <a:srgbClr val="67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6400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1600"/>
            </a:pPr>
            <a:r>
              <a:t>1. Dashboard - System overview and ongoing inspections</a:t>
            </a:r>
          </a:p>
          <a:p>
            <a:pPr>
              <a:spcAft>
                <a:spcPts val="800"/>
              </a:spcAft>
              <a:defRPr sz="1600"/>
            </a:pPr>
            <a:r>
              <a:t>2. Incoming Powder Inspection - Raw material quality testing</a:t>
            </a:r>
          </a:p>
          <a:p>
            <a:pPr>
              <a:spcAft>
                <a:spcPts val="800"/>
              </a:spcAft>
              <a:defRPr sz="1600"/>
            </a:pPr>
            <a:r>
              <a:t>3. Blending Work Planning - Recipe and work order management</a:t>
            </a:r>
          </a:p>
          <a:p>
            <a:pPr>
              <a:spcAft>
                <a:spcPts val="800"/>
              </a:spcAft>
              <a:defRPr sz="1600"/>
            </a:pPr>
            <a:r>
              <a:t>4. Blending Work - Material input and production execution</a:t>
            </a:r>
          </a:p>
          <a:p>
            <a:pPr>
              <a:spcAft>
                <a:spcPts val="800"/>
              </a:spcAft>
              <a:defRPr sz="1600"/>
            </a:pPr>
            <a:r>
              <a:t>5. Blending Work Status - Real-time production monitoring</a:t>
            </a:r>
          </a:p>
          <a:p>
            <a:pPr>
              <a:spcAft>
                <a:spcPts val="800"/>
              </a:spcAft>
              <a:defRPr sz="1600"/>
            </a:pPr>
            <a:r>
              <a:t>6. Blending Powder Inspection - Finished product quality testing</a:t>
            </a:r>
          </a:p>
          <a:p>
            <a:pPr>
              <a:spcAft>
                <a:spcPts val="800"/>
              </a:spcAft>
              <a:defRPr sz="1600"/>
            </a:pPr>
            <a:r>
              <a:t>7. Inspection Results - Historical data query</a:t>
            </a:r>
          </a:p>
          <a:p>
            <a:pPr>
              <a:spcAft>
                <a:spcPts val="800"/>
              </a:spcAft>
              <a:defRPr sz="1600"/>
            </a:pPr>
            <a:r>
              <a:t>8. REWORK - Quality issue handling (future)</a:t>
            </a:r>
          </a:p>
          <a:p>
            <a:pPr>
              <a:spcAft>
                <a:spcPts val="800"/>
              </a:spcAft>
              <a:defRPr sz="1600"/>
            </a:pPr>
            <a:r>
              <a:t>9. Traceability - LOT tracking and audit trail</a:t>
            </a:r>
          </a:p>
          <a:p>
            <a:pPr>
              <a:spcAft>
                <a:spcPts val="800"/>
              </a:spcAft>
              <a:defRPr sz="1600"/>
            </a:pPr>
            <a:r>
              <a:t>10. Admin Mode - System configuration and user management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77EEA"/>
                </a:solidFill>
              </a:defRPr>
            </a:pPr>
            <a:r>
              <a:t>Operational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25400">
            <a:solidFill>
              <a:srgbClr val="67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2011680"/>
            <a:ext cx="1371600" cy="914400"/>
          </a:xfrm>
          <a:prstGeom prst="rect">
            <a:avLst/>
          </a:prstGeom>
          <a:solidFill>
            <a:srgbClr val="E6EBFA"/>
          </a:solidFill>
          <a:ln w="25400">
            <a:solidFill>
              <a:srgbClr val="67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1. Incoming</a:t>
            </a:r>
            <a:br/>
            <a:r>
              <a:t>Inspection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2011680"/>
            <a:ext cx="1371600" cy="914400"/>
          </a:xfrm>
          <a:prstGeom prst="rect">
            <a:avLst/>
          </a:prstGeom>
          <a:solidFill>
            <a:srgbClr val="E6EBFA"/>
          </a:solidFill>
          <a:ln w="25400">
            <a:solidFill>
              <a:srgbClr val="67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2. Recipe</a:t>
            </a:r>
            <a:br/>
            <a:r>
              <a:t>Setup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2011680"/>
            <a:ext cx="1371600" cy="914400"/>
          </a:xfrm>
          <a:prstGeom prst="rect">
            <a:avLst/>
          </a:prstGeom>
          <a:solidFill>
            <a:srgbClr val="E6EBFA"/>
          </a:solidFill>
          <a:ln w="25400">
            <a:solidFill>
              <a:srgbClr val="67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3. Work Order</a:t>
            </a:r>
            <a:br/>
            <a:r>
              <a:t>Creation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2011680"/>
            <a:ext cx="1371600" cy="914400"/>
          </a:xfrm>
          <a:prstGeom prst="rect">
            <a:avLst/>
          </a:prstGeom>
          <a:solidFill>
            <a:srgbClr val="E6EBFA"/>
          </a:solidFill>
          <a:ln w="25400">
            <a:solidFill>
              <a:srgbClr val="67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4. Material</a:t>
            </a:r>
            <a:br/>
            <a:r>
              <a:t>Input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114800"/>
            <a:ext cx="1371600" cy="914400"/>
          </a:xfrm>
          <a:prstGeom prst="rect">
            <a:avLst/>
          </a:prstGeom>
          <a:solidFill>
            <a:srgbClr val="E6EBFA"/>
          </a:solidFill>
          <a:ln w="25400">
            <a:solidFill>
              <a:srgbClr val="67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5. Blending</a:t>
            </a:r>
            <a:br/>
            <a:r>
              <a:t>Execution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4114800"/>
            <a:ext cx="1371600" cy="914400"/>
          </a:xfrm>
          <a:prstGeom prst="rect">
            <a:avLst/>
          </a:prstGeom>
          <a:solidFill>
            <a:srgbClr val="E6EBFA"/>
          </a:solidFill>
          <a:ln w="25400">
            <a:solidFill>
              <a:srgbClr val="67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6. Label</a:t>
            </a:r>
            <a:br/>
            <a:r>
              <a:t>Printing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4114800"/>
            <a:ext cx="1371600" cy="914400"/>
          </a:xfrm>
          <a:prstGeom prst="rect">
            <a:avLst/>
          </a:prstGeom>
          <a:solidFill>
            <a:srgbClr val="E6EBFA"/>
          </a:solidFill>
          <a:ln w="25400">
            <a:solidFill>
              <a:srgbClr val="67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7. Quality</a:t>
            </a:r>
            <a:br/>
            <a:r>
              <a:t>Inspection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4114800"/>
            <a:ext cx="1371600" cy="914400"/>
          </a:xfrm>
          <a:prstGeom prst="rect">
            <a:avLst/>
          </a:prstGeom>
          <a:solidFill>
            <a:srgbClr val="E6EBFA"/>
          </a:solidFill>
          <a:ln w="25400">
            <a:solidFill>
              <a:srgbClr val="67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8. Traceability</a:t>
            </a:r>
            <a:br/>
            <a:r>
              <a:t>Tracking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77440" y="2468880"/>
            <a:ext cx="274320" cy="0"/>
          </a:xfrm>
          <a:prstGeom prst="line">
            <a:avLst/>
          </a:prstGeom>
          <a:ln w="25400">
            <a:solidFill>
              <a:srgbClr val="67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206240" y="2468880"/>
            <a:ext cx="274320" cy="0"/>
          </a:xfrm>
          <a:prstGeom prst="line">
            <a:avLst/>
          </a:prstGeom>
          <a:ln w="25400">
            <a:solidFill>
              <a:srgbClr val="67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35040" y="2468880"/>
            <a:ext cx="274320" cy="0"/>
          </a:xfrm>
          <a:prstGeom prst="line">
            <a:avLst/>
          </a:prstGeom>
          <a:ln w="25400">
            <a:solidFill>
              <a:srgbClr val="67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086600" y="3017520"/>
            <a:ext cx="0" cy="1005840"/>
          </a:xfrm>
          <a:prstGeom prst="line">
            <a:avLst/>
          </a:prstGeom>
          <a:ln w="25400">
            <a:solidFill>
              <a:srgbClr val="67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4206240" y="4572000"/>
            <a:ext cx="2423160" cy="0"/>
          </a:xfrm>
          <a:prstGeom prst="line">
            <a:avLst/>
          </a:prstGeom>
          <a:ln w="25400">
            <a:solidFill>
              <a:srgbClr val="67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2377440" y="4572000"/>
            <a:ext cx="1371599" cy="0"/>
          </a:xfrm>
          <a:prstGeom prst="line">
            <a:avLst/>
          </a:prstGeom>
          <a:ln w="25400">
            <a:solidFill>
              <a:srgbClr val="67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600200" y="4572000"/>
            <a:ext cx="320040" cy="0"/>
          </a:xfrm>
          <a:prstGeom prst="line">
            <a:avLst/>
          </a:prstGeom>
          <a:ln w="25400">
            <a:solidFill>
              <a:srgbClr val="67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97280" y="5029200"/>
            <a:ext cx="0" cy="914400"/>
          </a:xfrm>
          <a:prstGeom prst="line">
            <a:avLst/>
          </a:prstGeom>
          <a:ln w="25400">
            <a:solidFill>
              <a:srgbClr val="67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554480" y="6126480"/>
            <a:ext cx="4754880" cy="0"/>
          </a:xfrm>
          <a:prstGeom prst="line">
            <a:avLst/>
          </a:prstGeom>
          <a:ln w="25400">
            <a:solidFill>
              <a:srgbClr val="67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77EEA"/>
                </a:solidFill>
              </a:defRPr>
            </a:pPr>
            <a:r>
              <a:t>Hardware Configuration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25400">
            <a:solidFill>
              <a:srgbClr val="67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76809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"/>
                <a:gridCol w="2194560"/>
                <a:gridCol w="2286000"/>
              </a:tblGrid>
              <a:tr h="51435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Equipment</a:t>
                      </a:r>
                    </a:p>
                  </a:txBody>
                  <a:tcPr>
                    <a:solidFill>
                      <a:srgbClr val="677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Qty</a:t>
                      </a:r>
                    </a:p>
                  </a:txBody>
                  <a:tcPr>
                    <a:solidFill>
                      <a:srgbClr val="677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677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677EE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Desktop PC (Server)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SBD71223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Central server &amp; database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Fanless Industrial 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HDL-BOX90C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Inspection &amp; blending stations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Monitor 24"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LG 24MR400W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Server display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Touch Monitor 24"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LG 24MR400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Blending station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Label Printer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BIXOLON SLP-TX420/400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Barcode label printing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Barcode Scanner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Zebra DS2278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LOT number scanning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Total Investment</a:t>
                      </a:r>
                    </a:p>
                  </a:txBody>
                  <a:tcP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9 units</a:t>
                      </a:r>
                    </a:p>
                  </a:txBody>
                  <a:tcP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</a:p>
                  </a:txBody>
                  <a:tcP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KRW 5,145,000</a:t>
                      </a:r>
                    </a:p>
                  </a:txBody>
                  <a:tcPr>
                    <a:solidFill>
                      <a:srgbClr val="DCDC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77EEA"/>
                </a:solidFill>
              </a:defRPr>
            </a:pPr>
            <a:r>
              <a:t>Barcode &amp; Traceability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25400">
            <a:solidFill>
              <a:srgbClr val="67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677EEA"/>
                </a:solidFill>
              </a:defRPr>
            </a:pPr>
            <a:r>
              <a:t>Barcode Label System</a:t>
            </a:r>
          </a:p>
          <a:p>
            <a:pPr>
              <a:spcAft>
                <a:spcPts val="800"/>
              </a:spcAft>
              <a:defRPr sz="1400"/>
            </a:pPr>
            <a:r>
              <a:t>Format: CODE128 / QR Code</a:t>
            </a:r>
          </a:p>
          <a:p>
            <a:pPr>
              <a:spcAft>
                <a:spcPts val="800"/>
              </a:spcAft>
              <a:defRPr sz="1400"/>
            </a:pPr>
            <a:r>
              <a:t>Content: Product name, LOT number, Pack number, Weight, Date</a:t>
            </a:r>
          </a:p>
          <a:p>
            <a:pPr>
              <a:spcAft>
                <a:spcPts val="800"/>
              </a:spcAft>
              <a:defRPr sz="1400"/>
            </a:pPr>
            <a:r>
              <a:t>Size: 100mm × 100mm thermal labels</a:t>
            </a:r>
          </a:p>
          <a:p>
            <a:pPr>
              <a:spcAft>
                <a:spcPts val="800"/>
              </a:spcAft>
              <a:defRPr sz="1400"/>
            </a:pPr>
            <a:r>
              <a:t>Printer: BIXOLON thermal transfer</a:t>
            </a:r>
          </a:p>
          <a:p>
            <a:pPr>
              <a:spcAft>
                <a:spcPts val="800"/>
              </a:spcAft>
              <a:defRPr sz="1400"/>
            </a:pPr>
            <a:r>
              <a:t>Scanner: Zebra DS2278 wireless 2D</a:t>
            </a:r>
          </a:p>
          <a:p>
            <a:br/>
            <a:pPr>
              <a:spcBef>
                <a:spcPts val="1800"/>
              </a:spcBef>
              <a:defRPr sz="1600" b="1"/>
            </a:pPr>
            <a:r>
              <a:t>Barcode Example:</a:t>
            </a:r>
          </a:p>
          <a:p>
            <a:pPr>
              <a:defRPr sz="1200">
                <a:latin typeface="Courier New"/>
              </a:defRPr>
            </a:pPr>
            <a:r>
              <a:t>PN:High-Strength-Mix|LOT:20241224-001|1/5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82880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677EEA"/>
                </a:solidFill>
              </a:defRPr>
            </a:pPr>
            <a:r>
              <a:t>Traceability Features</a:t>
            </a:r>
          </a:p>
          <a:p>
            <a:pPr>
              <a:spcAft>
                <a:spcPts val="800"/>
              </a:spcAft>
              <a:defRPr sz="1400"/>
            </a:pPr>
            <a:r>
              <a:t>Backward Traceability:</a:t>
            </a:r>
            <a:br/>
            <a:r>
              <a:t>Finished product → Raw materials</a:t>
            </a:r>
          </a:p>
          <a:p>
            <a:pPr>
              <a:spcAft>
                <a:spcPts val="800"/>
              </a:spcAft>
              <a:defRPr sz="1400"/>
            </a:pPr>
            <a:r>
              <a:t>Forward Traceability:</a:t>
            </a:r>
            <a:br/>
            <a:r>
              <a:t>Raw material → All products using it</a:t>
            </a:r>
          </a:p>
          <a:p>
            <a:pPr>
              <a:spcAft>
                <a:spcPts val="800"/>
              </a:spcAft>
              <a:defRPr sz="1400"/>
            </a:pPr>
            <a:r>
              <a:t>Complete audit trail with timestamps</a:t>
            </a:r>
          </a:p>
          <a:p>
            <a:pPr>
              <a:spcAft>
                <a:spcPts val="800"/>
              </a:spcAft>
              <a:defRPr sz="1400"/>
            </a:pPr>
            <a:r>
              <a:t>Quality inspection results linked</a:t>
            </a:r>
          </a:p>
          <a:p>
            <a:pPr>
              <a:spcAft>
                <a:spcPts val="800"/>
              </a:spcAft>
              <a:defRPr sz="1400"/>
            </a:pPr>
            <a:r>
              <a:t>Operator and equipment tracking</a:t>
            </a:r>
          </a:p>
          <a:p>
            <a:br/>
            <a:pPr>
              <a:spcBef>
                <a:spcPts val="1800"/>
              </a:spcBef>
              <a:defRPr sz="1600" b="1"/>
            </a:pPr>
            <a:r>
              <a:t>Benefits:</a:t>
            </a:r>
          </a:p>
          <a:p>
            <a:pPr>
              <a:spcAft>
                <a:spcPts val="800"/>
              </a:spcAft>
              <a:defRPr sz="1400"/>
            </a:pPr>
            <a:r>
              <a:t>Rapid quality issue identification</a:t>
            </a:r>
          </a:p>
          <a:p>
            <a:pPr>
              <a:spcAft>
                <a:spcPts val="800"/>
              </a:spcAft>
              <a:defRPr sz="1400"/>
            </a:pPr>
            <a:r>
              <a:t>Regulatory compliance</a:t>
            </a:r>
          </a:p>
          <a:p>
            <a:pPr>
              <a:spcAft>
                <a:spcPts val="800"/>
              </a:spcAft>
              <a:defRPr sz="1400"/>
            </a:pPr>
            <a:r>
              <a:t>Recall capability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77EEA"/>
                </a:solidFill>
              </a:defRPr>
            </a:pPr>
            <a:r>
              <a:t>Expected Benefits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25400">
            <a:solidFill>
              <a:srgbClr val="67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677EEA"/>
                </a:solidFill>
              </a:defRPr>
            </a:pPr>
            <a:r>
              <a:t>🎯 Quality Improvement</a:t>
            </a:r>
          </a:p>
          <a:p>
            <a:pPr>
              <a:spcAft>
                <a:spcPts val="800"/>
              </a:spcAft>
              <a:defRPr sz="1600"/>
            </a:pPr>
            <a:r>
              <a:t>Systematic quality inspection process</a:t>
            </a:r>
          </a:p>
          <a:p>
            <a:pPr>
              <a:spcAft>
                <a:spcPts val="800"/>
              </a:spcAft>
              <a:defRPr sz="1600"/>
            </a:pPr>
            <a:r>
              <a:t>Digital record keeping eliminates paper-based errors</a:t>
            </a:r>
          </a:p>
          <a:p>
            <a:pPr>
              <a:spcAft>
                <a:spcPts val="800"/>
              </a:spcAft>
              <a:defRPr sz="1600"/>
            </a:pPr>
            <a:r>
              <a:t>Real-time quality monitoring</a:t>
            </a:r>
          </a:p>
          <a:p>
            <a:pPr>
              <a:spcBef>
                <a:spcPts val="2000"/>
              </a:spcBef>
              <a:spcAft>
                <a:spcPts val="1000"/>
              </a:spcAft>
              <a:defRPr sz="2000" b="1">
                <a:solidFill>
                  <a:srgbClr val="677EEA"/>
                </a:solidFill>
              </a:defRPr>
            </a:pPr>
            <a:r>
              <a:t>⚡ Operational Efficiency</a:t>
            </a:r>
          </a:p>
          <a:p>
            <a:pPr>
              <a:spcAft>
                <a:spcPts val="800"/>
              </a:spcAft>
              <a:defRPr sz="1600"/>
            </a:pPr>
            <a:r>
              <a:t>Automated barcode scanning reduces manual data entry</a:t>
            </a:r>
          </a:p>
          <a:p>
            <a:pPr>
              <a:spcAft>
                <a:spcPts val="800"/>
              </a:spcAft>
              <a:defRPr sz="1600"/>
            </a:pPr>
            <a:r>
              <a:t>Centralized data access from any workstation</a:t>
            </a:r>
          </a:p>
          <a:p>
            <a:pPr>
              <a:spcAft>
                <a:spcPts val="800"/>
              </a:spcAft>
              <a:defRPr sz="1600"/>
            </a:pPr>
            <a:r>
              <a:t>Instant traceability queries (seconds vs. hours)</a:t>
            </a:r>
          </a:p>
          <a:p>
            <a:pPr>
              <a:spcBef>
                <a:spcPts val="2000"/>
              </a:spcBef>
              <a:spcAft>
                <a:spcPts val="1000"/>
              </a:spcAft>
              <a:defRPr sz="2000" b="1">
                <a:solidFill>
                  <a:srgbClr val="677EEA"/>
                </a:solidFill>
              </a:defRPr>
            </a:pPr>
            <a:r>
              <a:t>📋 Compliance &amp; Traceability</a:t>
            </a:r>
          </a:p>
          <a:p>
            <a:pPr>
              <a:spcAft>
                <a:spcPts val="800"/>
              </a:spcAft>
              <a:defRPr sz="1600"/>
            </a:pPr>
            <a:r>
              <a:t>Complete audit trail for regulatory requirements</a:t>
            </a:r>
          </a:p>
          <a:p>
            <a:pPr>
              <a:spcAft>
                <a:spcPts val="800"/>
              </a:spcAft>
              <a:defRPr sz="1600"/>
            </a:pPr>
            <a:r>
              <a:t>Rapid response to quality issues</a:t>
            </a:r>
          </a:p>
          <a:p>
            <a:pPr>
              <a:spcAft>
                <a:spcPts val="800"/>
              </a:spcAft>
              <a:defRPr sz="1600"/>
            </a:pPr>
            <a:r>
              <a:t>Data-driven decision making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77EEA"/>
                </a:solidFill>
              </a:defRPr>
            </a:pPr>
            <a:r>
              <a:t>Investment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25400">
            <a:solidFill>
              <a:srgbClr val="67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0" y="2011680"/>
          <a:ext cx="5486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914400"/>
                <a:gridCol w="1371600"/>
              </a:tblGrid>
              <a:tr h="4064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Item</a:t>
                      </a:r>
                    </a:p>
                  </a:txBody>
                  <a:tcPr>
                    <a:solidFill>
                      <a:srgbClr val="677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Quantity</a:t>
                      </a:r>
                    </a:p>
                  </a:txBody>
                  <a:tcPr>
                    <a:solidFill>
                      <a:srgbClr val="677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Amount (KRW)</a:t>
                      </a:r>
                    </a:p>
                  </a:txBody>
                  <a:tcPr>
                    <a:solidFill>
                      <a:srgbClr val="677EEA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Desktop PC (Server)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1,090,000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Fanless Industrial 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1,720,000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Monitor 24"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155,000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Touch Monitor 24"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370,000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Label Printer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1,050,000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Barcode Scanner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760,000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3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Investment</a:t>
                      </a:r>
                    </a:p>
                  </a:txBody>
                  <a:tcPr>
                    <a:solidFill>
                      <a:srgbClr val="677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9 units</a:t>
                      </a:r>
                    </a:p>
                  </a:txBody>
                  <a:tcPr>
                    <a:solidFill>
                      <a:srgbClr val="677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5,145,000</a:t>
                      </a:r>
                    </a:p>
                  </a:txBody>
                  <a:tcPr>
                    <a:solidFill>
                      <a:srgbClr val="677E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