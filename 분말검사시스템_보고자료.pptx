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77E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분말 검사 관리 시스템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9184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Powder Inspection Management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2062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품질 관리 및 추적성 솔루션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2024년 12월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77EEA"/>
                </a:solidFill>
              </a:defRPr>
            </a:pPr>
            <a:r>
              <a:t>시스템 개요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25400">
            <a:solidFill>
              <a:srgbClr val="67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677EEA"/>
                </a:solidFill>
              </a:defRPr>
            </a:pPr>
            <a:r>
              <a:t>도입 목적</a:t>
            </a:r>
          </a:p>
          <a:p>
            <a:pPr>
              <a:spcAft>
                <a:spcPts val="800"/>
              </a:spcAft>
              <a:defRPr sz="1800"/>
            </a:pPr>
            <a:r>
              <a:t>분말 검사 및 배합 작업의 종합적인 품질 관리 시스템 구축</a:t>
            </a:r>
          </a:p>
          <a:p>
            <a:pPr>
              <a:spcAft>
                <a:spcPts val="800"/>
              </a:spcAft>
              <a:defRPr sz="1800"/>
            </a:pPr>
            <a:r>
              <a:t>원재료부터 완제품까지 완전한 추적성 (Traceability) 확보</a:t>
            </a:r>
          </a:p>
          <a:p>
            <a:pPr>
              <a:spcAft>
                <a:spcPts val="800"/>
              </a:spcAft>
              <a:defRPr sz="1800"/>
            </a:pPr>
            <a:r>
              <a:t>바코드/QR 코드 기반 자동화된 LOT 추적 관리</a:t>
            </a:r>
          </a:p>
          <a:p>
            <a:pPr>
              <a:spcBef>
                <a:spcPts val="2400"/>
              </a:spcBef>
              <a:spcAft>
                <a:spcPts val="1200"/>
              </a:spcAft>
              <a:defRPr sz="2400" b="1">
                <a:solidFill>
                  <a:srgbClr val="677EEA"/>
                </a:solidFill>
              </a:defRPr>
            </a:pPr>
            <a:r>
              <a:t>주요 특징</a:t>
            </a:r>
          </a:p>
          <a:p>
            <a:pPr>
              <a:spcAft>
                <a:spcPts val="800"/>
              </a:spcAft>
              <a:defRPr sz="1800"/>
            </a:pPr>
            <a:r>
              <a:t>웹 기반 애플리케이션 (어디서나 접속 가능)</a:t>
            </a:r>
          </a:p>
          <a:p>
            <a:pPr>
              <a:spcAft>
                <a:spcPts val="800"/>
              </a:spcAft>
              <a:defRPr sz="1800"/>
            </a:pPr>
            <a:r>
              <a:t>실시간 데이터 동기화</a:t>
            </a:r>
          </a:p>
          <a:p>
            <a:pPr>
              <a:spcAft>
                <a:spcPts val="800"/>
              </a:spcAft>
              <a:defRPr sz="1800"/>
            </a:pPr>
            <a:r>
              <a:t>바코드 라벨 출력 및 스캔 시스템</a:t>
            </a:r>
          </a:p>
          <a:p>
            <a:pPr>
              <a:spcAft>
                <a:spcPts val="800"/>
              </a:spcAft>
              <a:defRPr sz="1800"/>
            </a:pPr>
            <a:r>
              <a:t>품질 검사 데이터 관리</a:t>
            </a:r>
          </a:p>
          <a:p>
            <a:pPr>
              <a:spcAft>
                <a:spcPts val="800"/>
              </a:spcAft>
              <a:defRPr sz="1800"/>
            </a:pPr>
            <a:r>
              <a:t>완전한 전/후방 추적성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77EEA"/>
                </a:solidFill>
              </a:defRPr>
            </a:pPr>
            <a:r>
              <a:t>시스템 아키텍처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25400">
            <a:solidFill>
              <a:srgbClr val="67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0" y="2011680"/>
            <a:ext cx="1828800" cy="1097280"/>
          </a:xfrm>
          <a:prstGeom prst="rect">
            <a:avLst/>
          </a:prstGeom>
          <a:solidFill>
            <a:srgbClr val="E6EBFA"/>
          </a:solidFill>
          <a:ln w="25400">
            <a:solidFill>
              <a:srgbClr val="67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677EEA"/>
                </a:solidFill>
              </a:defRPr>
            </a:pPr>
            <a:r>
              <a:t>서버 PC (A)</a:t>
            </a:r>
          </a:p>
          <a:p>
            <a:pPr algn="l">
              <a:spcBef>
                <a:spcPts val="800"/>
              </a:spcBef>
              <a:defRPr sz="1100"/>
            </a:pPr>
            <a:r>
              <a:t>• Flask 웹 애플리케이션</a:t>
            </a:r>
            <a:br/>
            <a:r>
              <a:t>• SQLite 데이터베이스</a:t>
            </a:r>
            <a:br/>
            <a:r>
              <a:t>• 중앙 데이터 관리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33832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네트워크 (LAN)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114800"/>
            <a:ext cx="1828800" cy="1097280"/>
          </a:xfrm>
          <a:prstGeom prst="rect">
            <a:avLst/>
          </a:prstGeom>
          <a:solidFill>
            <a:srgbClr val="E6EBFA"/>
          </a:solidFill>
          <a:ln w="25400">
            <a:solidFill>
              <a:srgbClr val="67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677EEA"/>
                </a:solidFill>
              </a:defRPr>
            </a:pPr>
            <a:r>
              <a:t>클라이언트 PC 1</a:t>
            </a:r>
          </a:p>
          <a:p>
            <a:pPr algn="l">
              <a:spcBef>
                <a:spcPts val="800"/>
              </a:spcBef>
              <a:defRPr sz="1100"/>
            </a:pPr>
            <a:r>
              <a:t>• 수입검사 스테이션</a:t>
            </a:r>
            <a:br/>
            <a:r>
              <a:t>• 바코드 스캐너</a:t>
            </a:r>
            <a:br/>
            <a:r>
              <a:t>• 라벨 프린터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4114800"/>
            <a:ext cx="1828800" cy="1097280"/>
          </a:xfrm>
          <a:prstGeom prst="rect">
            <a:avLst/>
          </a:prstGeom>
          <a:solidFill>
            <a:srgbClr val="E6EBFA"/>
          </a:solidFill>
          <a:ln w="25400">
            <a:solidFill>
              <a:srgbClr val="67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677EEA"/>
                </a:solidFill>
              </a:defRPr>
            </a:pPr>
            <a:r>
              <a:t>클라이언트 PC 2</a:t>
            </a:r>
          </a:p>
          <a:p>
            <a:pPr algn="l">
              <a:spcBef>
                <a:spcPts val="800"/>
              </a:spcBef>
              <a:defRPr sz="1100"/>
            </a:pPr>
            <a:r>
              <a:t>• 배합작업 스테이션</a:t>
            </a:r>
            <a:br/>
            <a:r>
              <a:t>• 바코드 스캐너</a:t>
            </a:r>
            <a:br/>
            <a:r>
              <a:t>• 라벨 프린터</a:t>
            </a:r>
            <a:br/>
            <a:r>
              <a:t>• 터치 모니터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77EEA"/>
                </a:solidFill>
              </a:defRPr>
            </a:pPr>
            <a:r>
              <a:t>소프트웨어 구성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25400">
            <a:solidFill>
              <a:srgbClr val="67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38404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677EEA"/>
                </a:solidFill>
              </a:defRPr>
            </a:pPr>
            <a:r>
              <a:t>기술 스택 (Technology Stack)</a:t>
            </a:r>
          </a:p>
          <a:p>
            <a:pPr>
              <a:spcAft>
                <a:spcPts val="800"/>
              </a:spcAft>
              <a:defRPr sz="1600"/>
            </a:pPr>
            <a:r>
              <a:t>백엔드: Python 3.x + Flask</a:t>
            </a:r>
          </a:p>
          <a:p>
            <a:pPr>
              <a:spcAft>
                <a:spcPts val="800"/>
              </a:spcAft>
              <a:defRPr sz="1600"/>
            </a:pPr>
            <a:r>
              <a:t>데이터베이스: SQLite (WAL 모드)</a:t>
            </a:r>
          </a:p>
          <a:p>
            <a:pPr>
              <a:spcAft>
                <a:spcPts val="800"/>
              </a:spcAft>
              <a:defRPr sz="1600"/>
            </a:pPr>
            <a:r>
              <a:t>프론트엔드: HTML5 + CSS3 + JavaScript</a:t>
            </a:r>
          </a:p>
          <a:p>
            <a:pPr>
              <a:spcAft>
                <a:spcPts val="800"/>
              </a:spcAft>
              <a:defRPr sz="1600"/>
            </a:pPr>
            <a:r>
              <a:t>바코드: JsBarcode 라이브러리</a:t>
            </a:r>
          </a:p>
          <a:p>
            <a:pPr>
              <a:spcAft>
                <a:spcPts val="800"/>
              </a:spcAft>
              <a:defRPr sz="1600"/>
            </a:pPr>
            <a:r>
              <a:t>통신: RESTful API</a:t>
            </a:r>
          </a:p>
          <a:p>
            <a:br/>
            <a:pPr>
              <a:spcBef>
                <a:spcPts val="1800"/>
              </a:spcBef>
              <a:spcAft>
                <a:spcPts val="1200"/>
              </a:spcAft>
              <a:defRPr sz="2000" b="1">
                <a:solidFill>
                  <a:srgbClr val="677EEA"/>
                </a:solidFill>
              </a:defRPr>
            </a:pPr>
            <a:r>
              <a:t>시스템 아키텍처</a:t>
            </a:r>
          </a:p>
          <a:p>
            <a:pPr>
              <a:spcAft>
                <a:spcPts val="800"/>
              </a:spcAft>
              <a:defRPr sz="1600"/>
            </a:pPr>
            <a:r>
              <a:t>서버-클라이언트 구조</a:t>
            </a:r>
          </a:p>
          <a:p>
            <a:pPr>
              <a:spcAft>
                <a:spcPts val="800"/>
              </a:spcAft>
              <a:defRPr sz="1600"/>
            </a:pPr>
            <a:r>
              <a:t>웹 브라우저 기반 접근</a:t>
            </a:r>
          </a:p>
          <a:p>
            <a:pPr>
              <a:spcAft>
                <a:spcPts val="800"/>
              </a:spcAft>
              <a:defRPr sz="1600"/>
            </a:pPr>
            <a:r>
              <a:t>크로스 플랫폼 지원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828800"/>
            <a:ext cx="38404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677EEA"/>
                </a:solidFill>
              </a:defRPr>
            </a:pPr>
            <a:r>
              <a:t>소프트웨어 특징</a:t>
            </a:r>
          </a:p>
          <a:p>
            <a:pPr>
              <a:spcAft>
                <a:spcPts val="800"/>
              </a:spcAft>
              <a:defRPr sz="1600"/>
            </a:pPr>
            <a:r>
              <a:t>설치 불필요 (웹 브라우저만 사용)</a:t>
            </a:r>
          </a:p>
          <a:p>
            <a:pPr>
              <a:spcAft>
                <a:spcPts val="800"/>
              </a:spcAft>
              <a:defRPr sz="1600"/>
            </a:pPr>
            <a:r>
              <a:t>동시 다중 사용자 지원</a:t>
            </a:r>
          </a:p>
          <a:p>
            <a:pPr>
              <a:spcAft>
                <a:spcPts val="800"/>
              </a:spcAft>
              <a:defRPr sz="1600"/>
            </a:pPr>
            <a:r>
              <a:t>반응형 웹 디자인</a:t>
            </a:r>
          </a:p>
          <a:p>
            <a:pPr>
              <a:spcAft>
                <a:spcPts val="800"/>
              </a:spcAft>
              <a:defRPr sz="1600"/>
            </a:pPr>
            <a:r>
              <a:t>실시간 데이터 동기화</a:t>
            </a:r>
          </a:p>
          <a:p>
            <a:pPr>
              <a:spcAft>
                <a:spcPts val="800"/>
              </a:spcAft>
              <a:defRPr sz="1600"/>
            </a:pPr>
            <a:r>
              <a:t>직관적인 사용자 인터페이스</a:t>
            </a:r>
          </a:p>
          <a:p>
            <a:br/>
            <a:pPr>
              <a:spcBef>
                <a:spcPts val="1800"/>
              </a:spcBef>
              <a:spcAft>
                <a:spcPts val="1200"/>
              </a:spcAft>
              <a:defRPr sz="2000" b="1">
                <a:solidFill>
                  <a:srgbClr val="677EEA"/>
                </a:solidFill>
              </a:defRPr>
            </a:pPr>
            <a:r>
              <a:t>데이터 관리</a:t>
            </a:r>
          </a:p>
          <a:p>
            <a:pPr>
              <a:spcAft>
                <a:spcPts val="800"/>
              </a:spcAft>
              <a:defRPr sz="1600"/>
            </a:pPr>
            <a:r>
              <a:t>자동 백업 및 복구</a:t>
            </a:r>
          </a:p>
          <a:p>
            <a:pPr>
              <a:spcAft>
                <a:spcPts val="800"/>
              </a:spcAft>
              <a:defRPr sz="1600"/>
            </a:pPr>
            <a:r>
              <a:t>검사 결과 영구 보존</a:t>
            </a:r>
          </a:p>
          <a:p>
            <a:pPr>
              <a:spcAft>
                <a:spcPts val="800"/>
              </a:spcAft>
              <a:defRPr sz="1600"/>
            </a:pPr>
            <a:r>
              <a:t>완전한 감사 추적 (Audit Trail)</a:t>
            </a:r>
          </a:p>
          <a:p>
            <a:pPr>
              <a:spcAft>
                <a:spcPts val="800"/>
              </a:spcAft>
              <a:defRPr sz="1600"/>
            </a:pPr>
            <a:r>
              <a:t>데이터 무결성 보장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77EEA"/>
                </a:solidFill>
              </a:defRPr>
            </a:pPr>
            <a:r>
              <a:t>주요 기능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25400">
            <a:solidFill>
              <a:srgbClr val="67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38404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677EEA"/>
                </a:solidFill>
              </a:defRPr>
            </a:pPr>
            <a:r>
              <a:t>1. 수입분말 검사</a:t>
            </a:r>
          </a:p>
          <a:p>
            <a:pPr>
              <a:spcAft>
                <a:spcPts val="800"/>
              </a:spcAft>
              <a:defRPr sz="1400"/>
            </a:pPr>
            <a:r>
              <a:t>원재료 품질 검사</a:t>
            </a:r>
          </a:p>
          <a:p>
            <a:pPr>
              <a:spcAft>
                <a:spcPts val="800"/>
              </a:spcAft>
              <a:defRPr sz="1400"/>
            </a:pPr>
            <a:r>
              <a:t>LOT 번호 등록</a:t>
            </a:r>
          </a:p>
          <a:p>
            <a:pPr>
              <a:spcAft>
                <a:spcPts val="800"/>
              </a:spcAft>
              <a:defRPr sz="1400"/>
            </a:pPr>
            <a:r>
              <a:t>다항목 검사 결과 관리</a:t>
            </a:r>
          </a:p>
          <a:p>
            <a:pPr>
              <a:spcBef>
                <a:spcPts val="1800"/>
              </a:spcBef>
              <a:defRPr sz="1800" b="1">
                <a:solidFill>
                  <a:srgbClr val="677EEA"/>
                </a:solidFill>
              </a:defRPr>
            </a:pPr>
            <a:r>
              <a:t>2. 배합작업 계획 등록</a:t>
            </a:r>
          </a:p>
          <a:p>
            <a:pPr>
              <a:spcAft>
                <a:spcPts val="800"/>
              </a:spcAft>
              <a:defRPr sz="1400"/>
            </a:pPr>
            <a:r>
              <a:t>배합 규격서 관리</a:t>
            </a:r>
          </a:p>
          <a:p>
            <a:pPr>
              <a:spcAft>
                <a:spcPts val="800"/>
              </a:spcAft>
              <a:defRPr sz="1400"/>
            </a:pPr>
            <a:r>
              <a:t>작업 지시서 생성</a:t>
            </a:r>
          </a:p>
          <a:p>
            <a:pPr>
              <a:spcAft>
                <a:spcPts val="800"/>
              </a:spcAft>
              <a:defRPr sz="1400"/>
            </a:pPr>
            <a:r>
              <a:t>생산 일정 관리</a:t>
            </a:r>
          </a:p>
          <a:p>
            <a:pPr>
              <a:spcBef>
                <a:spcPts val="1800"/>
              </a:spcBef>
              <a:defRPr sz="1800" b="1">
                <a:solidFill>
                  <a:srgbClr val="677EEA"/>
                </a:solidFill>
              </a:defRPr>
            </a:pPr>
            <a:r>
              <a:t>3. 원재료 투입 추적</a:t>
            </a:r>
          </a:p>
          <a:p>
            <a:pPr>
              <a:spcAft>
                <a:spcPts val="800"/>
              </a:spcAft>
              <a:defRPr sz="1400"/>
            </a:pPr>
            <a:r>
              <a:t>바코드 스캔 LOT 입력</a:t>
            </a:r>
          </a:p>
          <a:p>
            <a:pPr>
              <a:spcAft>
                <a:spcPts val="800"/>
              </a:spcAft>
              <a:defRPr sz="1400"/>
            </a:pPr>
            <a:r>
              <a:t>중량 측정 기록</a:t>
            </a:r>
          </a:p>
          <a:p>
            <a:pPr>
              <a:spcAft>
                <a:spcPts val="800"/>
              </a:spcAft>
              <a:defRPr sz="1400"/>
            </a:pPr>
            <a:r>
              <a:t>이종분말 혼입 감지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645920"/>
            <a:ext cx="38404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677EEA"/>
                </a:solidFill>
              </a:defRPr>
            </a:pPr>
            <a:r>
              <a:t>4. 검사 결과 조회</a:t>
            </a:r>
          </a:p>
          <a:p>
            <a:pPr>
              <a:spcAft>
                <a:spcPts val="800"/>
              </a:spcAft>
              <a:defRPr sz="1400"/>
            </a:pPr>
            <a:r>
              <a:t>종합 검사 결과 저장</a:t>
            </a:r>
          </a:p>
          <a:p>
            <a:pPr>
              <a:spcAft>
                <a:spcPts val="800"/>
              </a:spcAft>
              <a:defRPr sz="1400"/>
            </a:pPr>
            <a:r>
              <a:t>합격/불합격 판정</a:t>
            </a:r>
          </a:p>
          <a:p>
            <a:pPr>
              <a:spcAft>
                <a:spcPts val="800"/>
              </a:spcAft>
              <a:defRPr sz="1400"/>
            </a:pPr>
            <a:r>
              <a:t>이력 데이터 관리</a:t>
            </a:r>
          </a:p>
          <a:p>
            <a:pPr>
              <a:spcBef>
                <a:spcPts val="1800"/>
              </a:spcBef>
              <a:defRPr sz="1800" b="1">
                <a:solidFill>
                  <a:srgbClr val="677EEA"/>
                </a:solidFill>
              </a:defRPr>
            </a:pPr>
            <a:r>
              <a:t>5. 추적성 조회</a:t>
            </a:r>
          </a:p>
          <a:p>
            <a:pPr>
              <a:spcAft>
                <a:spcPts val="800"/>
              </a:spcAft>
              <a:defRPr sz="1400"/>
            </a:pPr>
            <a:r>
              <a:t>후방 추적: 완제품 → 원재료</a:t>
            </a:r>
          </a:p>
          <a:p>
            <a:pPr>
              <a:spcAft>
                <a:spcPts val="800"/>
              </a:spcAft>
              <a:defRPr sz="1400"/>
            </a:pPr>
            <a:r>
              <a:t>전방 추적: 원재료 → 제품</a:t>
            </a:r>
          </a:p>
          <a:p>
            <a:pPr>
              <a:spcAft>
                <a:spcPts val="800"/>
              </a:spcAft>
              <a:defRPr sz="1400"/>
            </a:pPr>
            <a:r>
              <a:t>완전한 감사 추적</a:t>
            </a:r>
          </a:p>
          <a:p>
            <a:pPr>
              <a:spcBef>
                <a:spcPts val="1800"/>
              </a:spcBef>
              <a:defRPr sz="1800" b="1">
                <a:solidFill>
                  <a:srgbClr val="677EEA"/>
                </a:solidFill>
              </a:defRPr>
            </a:pPr>
            <a:r>
              <a:t>6. 바코드/라벨 시스템</a:t>
            </a:r>
          </a:p>
          <a:p>
            <a:pPr>
              <a:spcAft>
                <a:spcPts val="800"/>
              </a:spcAft>
              <a:defRPr sz="1400"/>
            </a:pPr>
            <a:r>
              <a:t>자동 라벨 생성</a:t>
            </a:r>
          </a:p>
          <a:p>
            <a:pPr>
              <a:spcAft>
                <a:spcPts val="800"/>
              </a:spcAft>
              <a:defRPr sz="1400"/>
            </a:pPr>
            <a:r>
              <a:t>QR/바코드 출력</a:t>
            </a:r>
          </a:p>
          <a:p>
            <a:pPr>
              <a:spcAft>
                <a:spcPts val="800"/>
              </a:spcAft>
              <a:defRPr sz="1400"/>
            </a:pPr>
            <a:r>
              <a:t>무선 스캐너 통합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77EEA"/>
                </a:solidFill>
              </a:defRPr>
            </a:pPr>
            <a:r>
              <a:t>사용자 인터페이스 - 메뉴 구조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25400">
            <a:solidFill>
              <a:srgbClr val="67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64008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800"/>
              </a:spcAft>
              <a:defRPr sz="1600"/>
            </a:pPr>
            <a:r>
              <a:t>1. 대시보드 - 시스템 현황 및 진행중 검사 확인</a:t>
            </a:r>
          </a:p>
          <a:p>
            <a:pPr>
              <a:spcAft>
                <a:spcPts val="800"/>
              </a:spcAft>
              <a:defRPr sz="1600"/>
            </a:pPr>
            <a:r>
              <a:t>2. 수입분말 검사 - 원재료 품질 검사</a:t>
            </a:r>
          </a:p>
          <a:p>
            <a:pPr>
              <a:spcAft>
                <a:spcPts val="800"/>
              </a:spcAft>
              <a:defRPr sz="1600"/>
            </a:pPr>
            <a:r>
              <a:t>3. 배합작업계획 등록 - 배합 규격서 및 작업 지시서 관리</a:t>
            </a:r>
          </a:p>
          <a:p>
            <a:pPr>
              <a:spcAft>
                <a:spcPts val="800"/>
              </a:spcAft>
              <a:defRPr sz="1600"/>
            </a:pPr>
            <a:r>
              <a:t>4. 배합작업 - 원재료 투입 및 생산 실행</a:t>
            </a:r>
          </a:p>
          <a:p>
            <a:pPr>
              <a:spcAft>
                <a:spcPts val="800"/>
              </a:spcAft>
              <a:defRPr sz="1600"/>
            </a:pPr>
            <a:r>
              <a:t>5. 배합작업 현황 조회 - 실시간 생산 모니터링</a:t>
            </a:r>
          </a:p>
          <a:p>
            <a:pPr>
              <a:spcAft>
                <a:spcPts val="800"/>
              </a:spcAft>
              <a:defRPr sz="1600"/>
            </a:pPr>
            <a:r>
              <a:t>6. 배합분말 검사 - 완제품 품질 검사</a:t>
            </a:r>
          </a:p>
          <a:p>
            <a:pPr>
              <a:spcAft>
                <a:spcPts val="800"/>
              </a:spcAft>
              <a:defRPr sz="1600"/>
            </a:pPr>
            <a:r>
              <a:t>7. 검사결과 조회 - 검사 이력 데이터 조회</a:t>
            </a:r>
          </a:p>
          <a:p>
            <a:pPr>
              <a:spcAft>
                <a:spcPts val="800"/>
              </a:spcAft>
              <a:defRPr sz="1600"/>
            </a:pPr>
            <a:r>
              <a:t>8. REWORK - 품질 이슈 처리 (향후 구현)</a:t>
            </a:r>
          </a:p>
          <a:p>
            <a:pPr>
              <a:spcAft>
                <a:spcPts val="800"/>
              </a:spcAft>
              <a:defRPr sz="1600"/>
            </a:pPr>
            <a:r>
              <a:t>9. 추적성 조회 - LOT 추적 및 감사 추적</a:t>
            </a:r>
          </a:p>
          <a:p>
            <a:pPr>
              <a:spcAft>
                <a:spcPts val="800"/>
              </a:spcAft>
              <a:defRPr sz="1600"/>
            </a:pPr>
            <a:r>
              <a:t>10. 관리자 모드 - 시스템 설정 및 사용자 관리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77EEA"/>
                </a:solidFill>
              </a:defRPr>
            </a:pPr>
            <a:r>
              <a:t>업무 프로세스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25400">
            <a:solidFill>
              <a:srgbClr val="67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2011680"/>
            <a:ext cx="1371600" cy="914400"/>
          </a:xfrm>
          <a:prstGeom prst="rect">
            <a:avLst/>
          </a:prstGeom>
          <a:solidFill>
            <a:srgbClr val="E6EBFA"/>
          </a:solidFill>
          <a:ln w="25400">
            <a:solidFill>
              <a:srgbClr val="67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1. 수입검사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2011680"/>
            <a:ext cx="1371600" cy="914400"/>
          </a:xfrm>
          <a:prstGeom prst="rect">
            <a:avLst/>
          </a:prstGeom>
          <a:solidFill>
            <a:srgbClr val="E6EBFA"/>
          </a:solidFill>
          <a:ln w="25400">
            <a:solidFill>
              <a:srgbClr val="67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2. 배합규격</a:t>
            </a:r>
            <a:br/>
            <a:r>
              <a:t>설정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2011680"/>
            <a:ext cx="1371600" cy="914400"/>
          </a:xfrm>
          <a:prstGeom prst="rect">
            <a:avLst/>
          </a:prstGeom>
          <a:solidFill>
            <a:srgbClr val="E6EBFA"/>
          </a:solidFill>
          <a:ln w="25400">
            <a:solidFill>
              <a:srgbClr val="67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3. 작업지시</a:t>
            </a:r>
            <a:br/>
            <a:r>
              <a:t>생성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2011680"/>
            <a:ext cx="1371600" cy="914400"/>
          </a:xfrm>
          <a:prstGeom prst="rect">
            <a:avLst/>
          </a:prstGeom>
          <a:solidFill>
            <a:srgbClr val="E6EBFA"/>
          </a:solidFill>
          <a:ln w="25400">
            <a:solidFill>
              <a:srgbClr val="67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4. 원재료</a:t>
            </a:r>
            <a:br/>
            <a:r>
              <a:t>투입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4114800"/>
            <a:ext cx="1371600" cy="914400"/>
          </a:xfrm>
          <a:prstGeom prst="rect">
            <a:avLst/>
          </a:prstGeom>
          <a:solidFill>
            <a:srgbClr val="E6EBFA"/>
          </a:solidFill>
          <a:ln w="25400">
            <a:solidFill>
              <a:srgbClr val="67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5. 배합작업</a:t>
            </a:r>
            <a:br/>
            <a:r>
              <a:t>실행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4114800"/>
            <a:ext cx="1371600" cy="914400"/>
          </a:xfrm>
          <a:prstGeom prst="rect">
            <a:avLst/>
          </a:prstGeom>
          <a:solidFill>
            <a:srgbClr val="E6EBFA"/>
          </a:solidFill>
          <a:ln w="25400">
            <a:solidFill>
              <a:srgbClr val="67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6. 라벨</a:t>
            </a:r>
            <a:br/>
            <a:r>
              <a:t>출력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4114800"/>
            <a:ext cx="1371600" cy="914400"/>
          </a:xfrm>
          <a:prstGeom prst="rect">
            <a:avLst/>
          </a:prstGeom>
          <a:solidFill>
            <a:srgbClr val="E6EBFA"/>
          </a:solidFill>
          <a:ln w="25400">
            <a:solidFill>
              <a:srgbClr val="67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7. 품질검사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4114800"/>
            <a:ext cx="1371600" cy="914400"/>
          </a:xfrm>
          <a:prstGeom prst="rect">
            <a:avLst/>
          </a:prstGeom>
          <a:solidFill>
            <a:srgbClr val="E6EBFA"/>
          </a:solidFill>
          <a:ln w="25400">
            <a:solidFill>
              <a:srgbClr val="67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8. 추적성</a:t>
            </a:r>
            <a:br/>
            <a:r>
              <a:t>관리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377440" y="2468880"/>
            <a:ext cx="274320" cy="0"/>
          </a:xfrm>
          <a:prstGeom prst="line">
            <a:avLst/>
          </a:prstGeom>
          <a:ln w="25400">
            <a:solidFill>
              <a:srgbClr val="677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206240" y="2468880"/>
            <a:ext cx="274320" cy="0"/>
          </a:xfrm>
          <a:prstGeom prst="line">
            <a:avLst/>
          </a:prstGeom>
          <a:ln w="25400">
            <a:solidFill>
              <a:srgbClr val="677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035040" y="2468880"/>
            <a:ext cx="274320" cy="0"/>
          </a:xfrm>
          <a:prstGeom prst="line">
            <a:avLst/>
          </a:prstGeom>
          <a:ln w="25400">
            <a:solidFill>
              <a:srgbClr val="677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086600" y="3017520"/>
            <a:ext cx="0" cy="1005840"/>
          </a:xfrm>
          <a:prstGeom prst="line">
            <a:avLst/>
          </a:prstGeom>
          <a:ln w="25400">
            <a:solidFill>
              <a:srgbClr val="677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4206240" y="4572000"/>
            <a:ext cx="2423160" cy="0"/>
          </a:xfrm>
          <a:prstGeom prst="line">
            <a:avLst/>
          </a:prstGeom>
          <a:ln w="25400">
            <a:solidFill>
              <a:srgbClr val="677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2377440" y="4572000"/>
            <a:ext cx="1371599" cy="0"/>
          </a:xfrm>
          <a:prstGeom prst="line">
            <a:avLst/>
          </a:prstGeom>
          <a:ln w="25400">
            <a:solidFill>
              <a:srgbClr val="677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1600200" y="4572000"/>
            <a:ext cx="320040" cy="0"/>
          </a:xfrm>
          <a:prstGeom prst="line">
            <a:avLst/>
          </a:prstGeom>
          <a:ln w="25400">
            <a:solidFill>
              <a:srgbClr val="677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97280" y="5029200"/>
            <a:ext cx="0" cy="914400"/>
          </a:xfrm>
          <a:prstGeom prst="line">
            <a:avLst/>
          </a:prstGeom>
          <a:ln w="25400">
            <a:solidFill>
              <a:srgbClr val="677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554480" y="6126480"/>
            <a:ext cx="4754880" cy="0"/>
          </a:xfrm>
          <a:prstGeom prst="line">
            <a:avLst/>
          </a:prstGeom>
          <a:ln w="25400">
            <a:solidFill>
              <a:srgbClr val="677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77EEA"/>
                </a:solidFill>
              </a:defRPr>
            </a:pPr>
            <a:r>
              <a:t>하드웨어 구성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25400">
            <a:solidFill>
              <a:srgbClr val="67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828800"/>
          <a:ext cx="76809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914400"/>
                <a:gridCol w="2194560"/>
                <a:gridCol w="2286000"/>
              </a:tblGrid>
              <a:tr h="51435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장비명</a:t>
                      </a:r>
                    </a:p>
                  </a:txBody>
                  <a:tcPr>
                    <a:solidFill>
                      <a:srgbClr val="677E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수량</a:t>
                      </a:r>
                    </a:p>
                  </a:txBody>
                  <a:tcPr>
                    <a:solidFill>
                      <a:srgbClr val="677E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모델</a:t>
                      </a:r>
                    </a:p>
                  </a:txBody>
                  <a:tcPr>
                    <a:solidFill>
                      <a:srgbClr val="677E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용도</a:t>
                      </a:r>
                    </a:p>
                  </a:txBody>
                  <a:tcPr>
                    <a:solidFill>
                      <a:srgbClr val="677EEA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데스크톱 PC (서버)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SBD71223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중앙 서버 및 데이터베이스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팬리스 산업용 PC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HDL-BOX90C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검사 및 배합 스테이션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모니터 24"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LG 24MR400W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서버 디스플레이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터치 모니터 24"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LG 24MR400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배합작업 스테이션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라벨 프린터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BIXOLON SLP-TX420/400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바코드 라벨 출력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바코드 스캐너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Zebra DS2278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LOT 번호 스캔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총 투자 금액</a:t>
                      </a:r>
                    </a:p>
                  </a:txBody>
                  <a:tcPr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9대</a:t>
                      </a:r>
                    </a:p>
                  </a:txBody>
                  <a:tcPr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</a:p>
                  </a:txBody>
                  <a:tcPr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5,145,000원</a:t>
                      </a:r>
                    </a:p>
                  </a:txBody>
                  <a:tcPr>
                    <a:solidFill>
                      <a:srgbClr val="DCDCD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77EEA"/>
                </a:solidFill>
              </a:defRPr>
            </a:pPr>
            <a:r>
              <a:t>바코드 및 추적성 시스템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25400">
            <a:solidFill>
              <a:srgbClr val="67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38404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677EEA"/>
                </a:solidFill>
              </a:defRPr>
            </a:pPr>
            <a:r>
              <a:t>바코드 라벨 시스템</a:t>
            </a:r>
          </a:p>
          <a:p>
            <a:pPr>
              <a:spcAft>
                <a:spcPts val="800"/>
              </a:spcAft>
              <a:defRPr sz="1400"/>
            </a:pPr>
            <a:r>
              <a:t>형식: CODE128 / QR 코드</a:t>
            </a:r>
          </a:p>
          <a:p>
            <a:pPr>
              <a:spcAft>
                <a:spcPts val="800"/>
              </a:spcAft>
              <a:defRPr sz="1400"/>
            </a:pPr>
            <a:r>
              <a:t>내용: 제품명, LOT번호, 팩번호, 중량, 날짜</a:t>
            </a:r>
          </a:p>
          <a:p>
            <a:pPr>
              <a:spcAft>
                <a:spcPts val="800"/>
              </a:spcAft>
              <a:defRPr sz="1400"/>
            </a:pPr>
            <a:r>
              <a:t>크기: 100mm × 100mm 열전사 라벨</a:t>
            </a:r>
          </a:p>
          <a:p>
            <a:pPr>
              <a:spcAft>
                <a:spcPts val="800"/>
              </a:spcAft>
              <a:defRPr sz="1400"/>
            </a:pPr>
            <a:r>
              <a:t>프린터: BIXOLON 열전사 프린터</a:t>
            </a:r>
          </a:p>
          <a:p>
            <a:pPr>
              <a:spcAft>
                <a:spcPts val="800"/>
              </a:spcAft>
              <a:defRPr sz="1400"/>
            </a:pPr>
            <a:r>
              <a:t>스캐너: Zebra DS2278 무선 2D</a:t>
            </a:r>
          </a:p>
          <a:p>
            <a:br/>
            <a:pPr>
              <a:spcBef>
                <a:spcPts val="1800"/>
              </a:spcBef>
              <a:defRPr sz="1600" b="1"/>
            </a:pPr>
            <a:r>
              <a:t>바코드 예시:</a:t>
            </a:r>
          </a:p>
          <a:p>
            <a:pPr>
              <a:defRPr sz="1100">
                <a:latin typeface="Courier New"/>
              </a:defRPr>
            </a:pPr>
            <a:r>
              <a:t>PN:High-Strength-Mix|LOT:20241224-001|1/5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828800"/>
            <a:ext cx="38404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677EEA"/>
                </a:solidFill>
              </a:defRPr>
            </a:pPr>
            <a:r>
              <a:t>추적성 기능</a:t>
            </a:r>
          </a:p>
          <a:p>
            <a:pPr>
              <a:spcAft>
                <a:spcPts val="800"/>
              </a:spcAft>
              <a:defRPr sz="1400"/>
            </a:pPr>
            <a:r>
              <a:t>후방 추적성 (Backward):</a:t>
            </a:r>
            <a:br/>
            <a:r>
              <a:t>완제품 → 원재료 추적</a:t>
            </a:r>
          </a:p>
          <a:p>
            <a:pPr>
              <a:spcAft>
                <a:spcPts val="800"/>
              </a:spcAft>
              <a:defRPr sz="1400"/>
            </a:pPr>
            <a:r>
              <a:t>전방 추적성 (Forward):</a:t>
            </a:r>
            <a:br/>
            <a:r>
              <a:t>원재료 → 사용된 모든 제품 추적</a:t>
            </a:r>
          </a:p>
          <a:p>
            <a:pPr>
              <a:spcAft>
                <a:spcPts val="800"/>
              </a:spcAft>
              <a:defRPr sz="1400"/>
            </a:pPr>
            <a:r>
              <a:t>타임스탬프 포함 완전한 감사 추적</a:t>
            </a:r>
          </a:p>
          <a:p>
            <a:pPr>
              <a:spcAft>
                <a:spcPts val="800"/>
              </a:spcAft>
              <a:defRPr sz="1400"/>
            </a:pPr>
            <a:r>
              <a:t>품질 검사 결과 연계</a:t>
            </a:r>
          </a:p>
          <a:p>
            <a:pPr>
              <a:spcAft>
                <a:spcPts val="800"/>
              </a:spcAft>
              <a:defRPr sz="1400"/>
            </a:pPr>
            <a:r>
              <a:t>작업자 및 장비 추적</a:t>
            </a:r>
          </a:p>
          <a:p>
            <a:br/>
            <a:pPr>
              <a:spcBef>
                <a:spcPts val="1800"/>
              </a:spcBef>
              <a:defRPr sz="1600" b="1"/>
            </a:pPr>
            <a:r>
              <a:t>활용 효과:</a:t>
            </a:r>
          </a:p>
          <a:p>
            <a:pPr>
              <a:spcAft>
                <a:spcPts val="800"/>
              </a:spcAft>
              <a:defRPr sz="1400"/>
            </a:pPr>
            <a:r>
              <a:t>품질 이슈 신속한 원인 파악</a:t>
            </a:r>
          </a:p>
          <a:p>
            <a:pPr>
              <a:spcAft>
                <a:spcPts val="800"/>
              </a:spcAft>
              <a:defRPr sz="1400"/>
            </a:pPr>
            <a:r>
              <a:t>규제 준수 (Compliance)</a:t>
            </a:r>
          </a:p>
          <a:p>
            <a:pPr>
              <a:spcAft>
                <a:spcPts val="800"/>
              </a:spcAft>
              <a:defRPr sz="1400"/>
            </a:pPr>
            <a:r>
              <a:t>리콜 대응 능력 확보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77EEA"/>
                </a:solidFill>
              </a:defRPr>
            </a:pPr>
            <a:r>
              <a:t>기대 효과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25400">
            <a:solidFill>
              <a:srgbClr val="67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677EEA"/>
                </a:solidFill>
              </a:defRPr>
            </a:pPr>
            <a:r>
              <a:t>🎯 품질 개선</a:t>
            </a:r>
          </a:p>
          <a:p>
            <a:pPr>
              <a:spcAft>
                <a:spcPts val="800"/>
              </a:spcAft>
              <a:defRPr sz="1600"/>
            </a:pPr>
            <a:r>
              <a:t>체계적인 품질 검사 프로세스 확립</a:t>
            </a:r>
          </a:p>
          <a:p>
            <a:pPr>
              <a:spcAft>
                <a:spcPts val="800"/>
              </a:spcAft>
              <a:defRPr sz="1600"/>
            </a:pPr>
            <a:r>
              <a:t>디지털 기록 관리로 종이 문서 오류 제거</a:t>
            </a:r>
          </a:p>
          <a:p>
            <a:pPr>
              <a:spcAft>
                <a:spcPts val="800"/>
              </a:spcAft>
              <a:defRPr sz="1600"/>
            </a:pPr>
            <a:r>
              <a:t>실시간 품질 모니터링</a:t>
            </a:r>
          </a:p>
          <a:p>
            <a:pPr>
              <a:spcBef>
                <a:spcPts val="2000"/>
              </a:spcBef>
              <a:spcAft>
                <a:spcPts val="1000"/>
              </a:spcAft>
              <a:defRPr sz="2000" b="1">
                <a:solidFill>
                  <a:srgbClr val="677EEA"/>
                </a:solidFill>
              </a:defRPr>
            </a:pPr>
            <a:r>
              <a:t>⚡ 운영 효율성 향상</a:t>
            </a:r>
          </a:p>
          <a:p>
            <a:pPr>
              <a:spcAft>
                <a:spcPts val="800"/>
              </a:spcAft>
              <a:defRPr sz="1600"/>
            </a:pPr>
            <a:r>
              <a:t>바코드 스캔으로 수작업 데이터 입력 최소화</a:t>
            </a:r>
          </a:p>
          <a:p>
            <a:pPr>
              <a:spcAft>
                <a:spcPts val="800"/>
              </a:spcAft>
              <a:defRPr sz="1600"/>
            </a:pPr>
            <a:r>
              <a:t>어느 워크스테이션에서나 중앙 데이터 접근</a:t>
            </a:r>
          </a:p>
          <a:p>
            <a:pPr>
              <a:spcAft>
                <a:spcPts val="800"/>
              </a:spcAft>
              <a:defRPr sz="1600"/>
            </a:pPr>
            <a:r>
              <a:t>즉시 추적성 조회 (수 시간 → 수 초)</a:t>
            </a:r>
          </a:p>
          <a:p>
            <a:pPr>
              <a:spcBef>
                <a:spcPts val="2000"/>
              </a:spcBef>
              <a:spcAft>
                <a:spcPts val="1000"/>
              </a:spcAft>
              <a:defRPr sz="2000" b="1">
                <a:solidFill>
                  <a:srgbClr val="677EEA"/>
                </a:solidFill>
              </a:defRPr>
            </a:pPr>
            <a:r>
              <a:t>📋 규정 준수 및 추적성</a:t>
            </a:r>
          </a:p>
          <a:p>
            <a:pPr>
              <a:spcAft>
                <a:spcPts val="800"/>
              </a:spcAft>
              <a:defRPr sz="1600"/>
            </a:pPr>
            <a:r>
              <a:t>규제 요구사항 대응 완전한 감사 추적</a:t>
            </a:r>
          </a:p>
          <a:p>
            <a:pPr>
              <a:spcAft>
                <a:spcPts val="800"/>
              </a:spcAft>
              <a:defRPr sz="1600"/>
            </a:pPr>
            <a:r>
              <a:t>품질 이슈 발생 시 신속한 대응</a:t>
            </a:r>
          </a:p>
          <a:p>
            <a:pPr>
              <a:spcAft>
                <a:spcPts val="800"/>
              </a:spcAft>
              <a:defRPr sz="1600"/>
            </a:pPr>
            <a:r>
              <a:t>데이터 기반 의사 결정 지원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77EEA"/>
                </a:solidFill>
              </a:defRPr>
            </a:pPr>
            <a:r>
              <a:t>투자 요약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25400">
            <a:solidFill>
              <a:srgbClr val="67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828800" y="2011680"/>
          <a:ext cx="54864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914400"/>
                <a:gridCol w="1371600"/>
              </a:tblGrid>
              <a:tr h="4064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항목</a:t>
                      </a:r>
                    </a:p>
                  </a:txBody>
                  <a:tcPr>
                    <a:solidFill>
                      <a:srgbClr val="677E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수량</a:t>
                      </a:r>
                    </a:p>
                  </a:txBody>
                  <a:tcPr>
                    <a:solidFill>
                      <a:srgbClr val="677E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금액 (원)</a:t>
                      </a:r>
                    </a:p>
                  </a:txBody>
                  <a:tcPr>
                    <a:solidFill>
                      <a:srgbClr val="677EEA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데스크톱 PC (서버)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1,090,000</a:t>
                      </a:r>
                    </a:p>
                  </a:txBody>
                  <a:tcPr/>
                </a:tc>
              </a:tr>
              <a:tr h="4064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팬리스 산업용 PC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1,720,000</a:t>
                      </a:r>
                    </a:p>
                  </a:txBody>
                  <a:tcPr/>
                </a:tc>
              </a:tr>
              <a:tr h="4064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모니터 24"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155,000</a:t>
                      </a:r>
                    </a:p>
                  </a:txBody>
                  <a:tcPr/>
                </a:tc>
              </a:tr>
              <a:tr h="4064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터치 모니터 24"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370,000</a:t>
                      </a:r>
                    </a:p>
                  </a:txBody>
                  <a:tcPr/>
                </a:tc>
              </a:tr>
              <a:tr h="4064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라벨 프린터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1,050,000</a:t>
                      </a:r>
                    </a:p>
                  </a:txBody>
                  <a:tcPr/>
                </a:tc>
              </a:tr>
              <a:tr h="4064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바코드 스캐너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760,000</a:t>
                      </a:r>
                    </a:p>
                  </a:txBody>
                  <a:tcPr/>
                </a:tc>
              </a:tr>
              <a:tr h="406400">
                <a:tc>
                  <a:txBody>
                    <a:bodyPr/>
                    <a:lstStyle/>
                    <a:p>
                      <a:pPr>
                        <a:defRPr sz="13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</a:p>
                  </a:txBody>
                  <a:tcPr/>
                </a:tc>
              </a:tr>
              <a:tr h="40640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총 투자 금액</a:t>
                      </a:r>
                    </a:p>
                  </a:txBody>
                  <a:tcPr>
                    <a:solidFill>
                      <a:srgbClr val="677E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9대</a:t>
                      </a:r>
                    </a:p>
                  </a:txBody>
                  <a:tcPr>
                    <a:solidFill>
                      <a:srgbClr val="677E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5,145,000</a:t>
                      </a:r>
                    </a:p>
                  </a:txBody>
                  <a:tcPr>
                    <a:solidFill>
                      <a:srgbClr val="677E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